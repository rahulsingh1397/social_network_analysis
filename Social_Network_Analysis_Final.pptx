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156B2C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58" r:id="rId6"/>
    <p:sldId id="257" r:id="rId7"/>
    <p:sldId id="259" r:id="rId8"/>
    <p:sldId id="266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5"/>
    <p:sldId id="276" r:id="rId26"/>
    <p:sldId id="27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F57967-4493-B5BE-403F-3B473B1CF6DA}" name="Rahul Singh" initials="RS" userId="Rahul Singh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3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omments/modernComment_100_156B2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671078-8287-497A-9EDF-179C102FA1B2}" authorId="{D8F57967-4493-B5BE-403F-3B473B1CF6DA}" created="2022-12-16T21:55:56.639">
    <pc:sldMkLst xmlns:pc="http://schemas.microsoft.com/office/powerpoint/2013/main/command">
      <pc:docMk/>
      <pc:sldMk cId="22459078" sldId="256"/>
    </pc:sldMkLst>
    <p188:txBody>
      <a:bodyPr/>
      <a:lstStyle/>
      <a:p>
        <a:r>
          <a:rPr lang="en-US"/>
          <a:t>Twitch user-user networks of gamers who stream in a certain language. Nodes are the users themselves and the links are mutual friendships between them.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7E90B-C900-461E-B371-390EB27941D6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C3428-41E1-419B-A9D2-E909AD02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75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C3428-41E1-419B-A9D2-E909AD029A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69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FB35-CCBC-46E7-5161-82FE0AEB7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D7CA08-89A8-DFBA-F127-64752FC093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6EEE2-7388-AD24-E573-2777482A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6D51D-F7BC-2E90-28AD-335A2DDB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7029-0CC3-7BAD-154C-16E0E162D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65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5EB5-5A2B-9D80-3A3B-C3E01199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0A2F-4EC5-F08C-B565-1AA3CADE8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5DAB1-43C4-DF48-EB5E-09C62DF9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F855C-A443-2E97-3D74-21B6D8D95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D702C-C556-704D-AF00-914FA9B5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3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24B3A-0036-5FF7-2154-C4B3D8F0F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E51BC-B6E3-AB8A-CD2B-0DEC248EE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3EAD7-CE91-1651-BFA6-B901B692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1933A-D7E3-EC85-EF0D-92E0BC3F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D1944-02F2-9C9E-628D-03011DA6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8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CF4D-58FD-91C8-DACD-D03D37F4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D514A-B172-F525-5D37-CE305878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E805E-B689-9279-7598-AB711F8B1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7FA0A-FBF3-29F5-8187-FC4DE730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8F9DB-0EDF-360D-1FA2-B3C9CB66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DDD0F-CA10-0DFD-10A9-8B71F4CA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33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F553-4C24-ACFD-C3DE-501627BF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3AC0B-55AD-DAEA-BEA4-93318109F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1E4A7-2BA9-D261-7485-963777168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07D0D5-CBED-9A17-2725-26445B498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CCAE8-FB5D-5601-1B69-6BB1F9DC7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06E4D-A870-2211-EBA4-21E16F0B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C0AAD4-6C9D-9745-2BF7-9E1EC275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11C904-AA14-0E49-3AA1-EFA6A449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6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D81D-D16D-3EC9-163D-D69C3DD0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5AD89-54B0-2CF2-2D49-05F8B45E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91381-D9C2-0FEC-AA26-3EC81EED9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5AC37-DD10-266A-AC08-D8AAB6F4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0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5C8E2-9196-D56F-7213-69B30F171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518AE-440B-3A81-82E9-2053AB37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6F85-1226-9BFE-A5B8-277A337B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7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DBEB-AB95-8553-9BFA-BDA8ABFA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AE84-3F83-D11D-04FE-8BD7D93CE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9A33B-23BD-8148-A76C-C911ED825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D3CB9-8927-6D28-B491-A6FA676D0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3FF2B-9ABA-4C87-9213-BA1FB7B5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AB068-E9BE-1D05-7B36-CDCE1FCB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905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E76F-D1D9-4D83-6A1C-37E1E66CA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E72CC-E8ED-5155-A741-C903EF47E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6E842-8661-4F7A-5F30-CFCAEF2DC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CC68A-7720-0FF6-C8BF-2EA62BD1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1B602-9A09-1FA4-FB17-F67ED2940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3F7D-1E95-C5BF-8DFF-9054DFBB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70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DA20-B537-D263-1E09-0A32CE00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2FE8E-F3A5-CC9E-E3EE-B7F29963D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787C6-33A6-72AF-15BB-6AC06B9A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15FDA-E7BB-899F-8419-E84BA53DE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F7A4F-7505-7DD1-C4C5-E88E1C53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5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01174-0C26-95E8-3276-B5FA1EB0C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047DB-B89A-A79D-7579-A2BB8D636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3E0F-F6DC-B008-2233-DF2F3D6BE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41792-D6B2-5FAB-3832-63BA12A5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AFF1E-AC20-1146-D97C-E668C1EE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5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B8102-D381-A5BF-F3A4-1789750A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5AFF3-E3D2-3EBB-F4B4-766FCDD7B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E1F3-16D3-4F26-C955-B90F4F6E87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E3630-8435-4EBC-A435-A8A8FA6DE00A}" type="datetimeFigureOut">
              <a:rPr lang="en-US" smtClean="0"/>
              <a:t>12/16/2022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A313-B46F-5CB6-9179-5AD54E00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6D11-FD56-3818-3400-45282F9D0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8F4A2-E8C9-47DC-AA5C-CCBB4573A6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4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156B2C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nap.stanford.edu/data/twitch-social-networks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enedekrozemberczki/MUSAE" TargetMode="External"/><Relationship Id="rId2" Type="http://schemas.openxmlformats.org/officeDocument/2006/relationships/hyperlink" Target="https://snap.stanford.edu/data/twitch-social-network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arxiv.org/abs/1909.130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E6760941-EF99-4F61-A95D-3C3E7C08D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44D9B9FF-D6DA-4F69-B4A0-BA1550D6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84269" y="1756600"/>
            <a:ext cx="1080325" cy="4736395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A7DC0AF9-0747-4070-A6D7-DF3681B9E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876839" y="1357766"/>
            <a:ext cx="687754" cy="430312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74612EAD-0A8C-4C44-AFE1-3DF0669AC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878850" y="1135060"/>
            <a:ext cx="409371" cy="416921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C2D46295-4D0D-487B-8972-141A047FB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24043"/>
            <a:ext cx="5288862" cy="39781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C781FED3-CE34-1340-1BB1-6B9C335241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334" y="1124043"/>
            <a:ext cx="5096755" cy="50967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9F0641-843C-92E8-8C95-E680FB856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342" y="1357766"/>
            <a:ext cx="4322204" cy="3541334"/>
          </a:xfrm>
        </p:spPr>
        <p:txBody>
          <a:bodyPr>
            <a:normAutofit/>
          </a:bodyPr>
          <a:lstStyle/>
          <a:p>
            <a:pPr algn="l"/>
            <a:r>
              <a:rPr lang="en-US" sz="5400">
                <a:solidFill>
                  <a:srgbClr val="FFFFFF"/>
                </a:solidFill>
              </a:rPr>
              <a:t>Twitch User Social Network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DCB77F-BFDA-5BEE-0929-36EE413AE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599" y="5301530"/>
            <a:ext cx="3493154" cy="1080982"/>
          </a:xfrm>
        </p:spPr>
        <p:txBody>
          <a:bodyPr anchor="t">
            <a:normAutofit fontScale="92500" lnSpcReduction="10000"/>
          </a:bodyPr>
          <a:lstStyle/>
          <a:p>
            <a:pPr algn="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-Rahul Singh</a:t>
            </a:r>
          </a:p>
          <a:p>
            <a:pPr algn="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CWID: 20005347</a:t>
            </a:r>
          </a:p>
          <a:p>
            <a:pPr algn="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Fall 2022</a:t>
            </a:r>
          </a:p>
        </p:txBody>
      </p:sp>
    </p:spTree>
    <p:extLst>
      <p:ext uri="{BB962C8B-B14F-4D97-AF65-F5344CB8AC3E}">
        <p14:creationId xmlns:p14="http://schemas.microsoft.com/office/powerpoint/2010/main" val="22459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27D15F9-FBA9-45B6-A1EE-7E2610907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49D845D-9A57-49AC-9523-BB0D6DA6F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3348EFE1-9D21-4DC0-8EC9-C88767061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D9CD0CF4-76F6-470E-A8EF-DD74FC196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71645EB6-7E0C-491E-9A5B-C25E80A64A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D20E5CAC-62A4-48E1-9F9F-1F8176683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3A11D2-F06B-447E-96A7-27A21A8FA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A51F99-63B0-FB4A-9FBF-72152760C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Background Twitch.TV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A8000FE7-7793-C667-E48A-8AD977E71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02" y="2669172"/>
            <a:ext cx="3209779" cy="32097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CC3CA-D083-1E10-A0C0-2EC1B9AD7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569" y="2494450"/>
            <a:ext cx="5471529" cy="3563159"/>
          </a:xfrm>
        </p:spPr>
        <p:txBody>
          <a:bodyPr>
            <a:normAutofit/>
          </a:bodyPr>
          <a:lstStyle/>
          <a:p>
            <a:r>
              <a:rPr lang="en-US" sz="2000"/>
              <a:t>Twitch is an American video live streaming service that focuses on video game live streaming</a:t>
            </a:r>
          </a:p>
          <a:p>
            <a:r>
              <a:rPr lang="en-US" sz="2000"/>
              <a:t> It includes broadcasts of esports competitions, offering music broadcasts, creative content, and "in real life" streams. </a:t>
            </a:r>
          </a:p>
          <a:p>
            <a:r>
              <a:rPr lang="en-US" sz="2000"/>
              <a:t>Users consists of Streamers and followers</a:t>
            </a:r>
          </a:p>
          <a:p>
            <a:r>
              <a:rPr lang="en-US" sz="2000"/>
              <a:t>Users can subscribe to different channels</a:t>
            </a:r>
          </a:p>
          <a:p>
            <a:r>
              <a:rPr lang="en-US" sz="2000" b="1"/>
              <a:t>Nodes</a:t>
            </a:r>
            <a:r>
              <a:rPr lang="en-US" sz="2000"/>
              <a:t> = Users</a:t>
            </a:r>
            <a:br>
              <a:rPr lang="en-US" sz="2000"/>
            </a:br>
            <a:r>
              <a:rPr lang="en-US" sz="2000" b="1"/>
              <a:t>Edges</a:t>
            </a:r>
            <a:r>
              <a:rPr lang="en-US" sz="2000"/>
              <a:t> = Mutual Friendship between users</a:t>
            </a:r>
          </a:p>
        </p:txBody>
      </p:sp>
    </p:spTree>
    <p:extLst>
      <p:ext uri="{BB962C8B-B14F-4D97-AF65-F5344CB8AC3E}">
        <p14:creationId xmlns:p14="http://schemas.microsoft.com/office/powerpoint/2010/main" val="3323598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E5A68-2855-5C35-F4A2-B2258A72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Project Overview	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93F16-FE5A-B502-571D-D5FB9D28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000"/>
              <a:t>Performing Social Network Analysis of Twitch user using graph theory and community detection</a:t>
            </a:r>
          </a:p>
          <a:p>
            <a:r>
              <a:rPr lang="en-US" sz="2000"/>
              <a:t>Visualizing network graph using Gephi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u="sng"/>
              <a:t>Problem to Solve:</a:t>
            </a:r>
          </a:p>
          <a:p>
            <a:r>
              <a:rPr lang="en-US" sz="2000"/>
              <a:t>Determining Community Structures using Nodes and Edges</a:t>
            </a:r>
          </a:p>
          <a:p>
            <a:r>
              <a:rPr lang="en-US" sz="2000"/>
              <a:t>Determining network properties and Notable Nodes and Edges in the network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526CA99-B854-E71F-FF8B-37E0F27EF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2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5FA7C47-B7C1-4D2E-AB49-ED23BA34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596EE156-ABF1-4329-A6BA-03B4254E0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521144" y="911116"/>
            <a:ext cx="687754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19B9933F-AAB3-444A-8BB5-9CA194A8B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0" y="1370435"/>
            <a:ext cx="527226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7D20183A-0B1D-4A1F-89B1-ADBEDBC6E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00164" y="643467"/>
            <a:ext cx="409371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131031D3-26CD-4214-A9A4-5857EFA1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95529" y="644382"/>
            <a:ext cx="3856024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759E9-70E3-798F-0B27-EE69F96CB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879" y="998002"/>
            <a:ext cx="3182940" cy="147195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Initial Data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F553A-E00B-1C8C-315E-B4C42DC7E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635" y="2546161"/>
            <a:ext cx="3200451" cy="2985929"/>
          </a:xfrm>
        </p:spPr>
        <p:txBody>
          <a:bodyPr anchor="t">
            <a:normAutofit/>
          </a:bodyPr>
          <a:lstStyle/>
          <a:p>
            <a:r>
              <a:rPr lang="en-US" sz="1900" dirty="0">
                <a:solidFill>
                  <a:srgbClr val="FEFFFF"/>
                </a:solidFill>
              </a:rPr>
              <a:t>Data Retrieved from :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https://snap.stanford.edu/data/twitch-social-networks.html</a:t>
            </a:r>
            <a:endParaRPr lang="en-US" sz="1900" dirty="0">
              <a:solidFill>
                <a:srgbClr val="FFC000"/>
              </a:solidFill>
            </a:endParaRPr>
          </a:p>
          <a:p>
            <a:r>
              <a:rPr lang="en-US" sz="1900" dirty="0">
                <a:solidFill>
                  <a:srgbClr val="FEFFFF"/>
                </a:solidFill>
              </a:rPr>
              <a:t>Focuses on Channels Streaming in English(ENGB)</a:t>
            </a:r>
          </a:p>
          <a:p>
            <a:r>
              <a:rPr lang="en-US" sz="1900" dirty="0">
                <a:solidFill>
                  <a:srgbClr val="FEFFFF"/>
                </a:solidFill>
              </a:rPr>
              <a:t>Nodes: </a:t>
            </a:r>
            <a:r>
              <a:rPr lang="en-US" sz="1900" b="0" i="0" dirty="0">
                <a:solidFill>
                  <a:srgbClr val="FEFFFF"/>
                </a:solidFill>
                <a:effectLst/>
                <a:latin typeface="arial" panose="020B0604020202020204" pitchFamily="34" charset="0"/>
              </a:rPr>
              <a:t>7,126</a:t>
            </a:r>
          </a:p>
          <a:p>
            <a:r>
              <a:rPr lang="en-US" sz="1900" dirty="0">
                <a:solidFill>
                  <a:srgbClr val="FEFFFF"/>
                </a:solidFill>
              </a:rPr>
              <a:t>Edges: 35324</a:t>
            </a:r>
          </a:p>
          <a:p>
            <a:r>
              <a:rPr lang="en-US" sz="1900" dirty="0">
                <a:solidFill>
                  <a:srgbClr val="FEFFFF"/>
                </a:solidFill>
              </a:rPr>
              <a:t>Type: Directed</a:t>
            </a:r>
          </a:p>
          <a:p>
            <a:endParaRPr lang="en-US" sz="1900" dirty="0">
              <a:solidFill>
                <a:srgbClr val="FEFFFF"/>
              </a:solidFill>
            </a:endParaRPr>
          </a:p>
          <a:p>
            <a:pPr marL="0" indent="0">
              <a:buNone/>
            </a:pPr>
            <a:endParaRPr lang="en-US" sz="1900" dirty="0">
              <a:solidFill>
                <a:srgbClr val="FEFFFF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B233968-A5FF-6FA5-58F7-D7A325F212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277161"/>
              </p:ext>
            </p:extLst>
          </p:nvPr>
        </p:nvGraphicFramePr>
        <p:xfrm>
          <a:off x="4998268" y="1734730"/>
          <a:ext cx="6539076" cy="3069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8192">
                  <a:extLst>
                    <a:ext uri="{9D8B030D-6E8A-4147-A177-3AD203B41FA5}">
                      <a16:colId xmlns:a16="http://schemas.microsoft.com/office/drawing/2014/main" val="1150807726"/>
                    </a:ext>
                  </a:extLst>
                </a:gridCol>
                <a:gridCol w="2700884">
                  <a:extLst>
                    <a:ext uri="{9D8B030D-6E8A-4147-A177-3AD203B41FA5}">
                      <a16:colId xmlns:a16="http://schemas.microsoft.com/office/drawing/2014/main" val="1295143736"/>
                    </a:ext>
                  </a:extLst>
                </a:gridCol>
              </a:tblGrid>
              <a:tr h="567401">
                <a:tc>
                  <a:txBody>
                    <a:bodyPr/>
                    <a:lstStyle/>
                    <a:p>
                      <a:r>
                        <a:rPr lang="en-US" sz="2500"/>
                        <a:t>Attributes</a:t>
                      </a:r>
                    </a:p>
                  </a:txBody>
                  <a:tcPr marL="128955" marR="128955" marT="64477" marB="64477"/>
                </a:tc>
                <a:tc>
                  <a:txBody>
                    <a:bodyPr/>
                    <a:lstStyle/>
                    <a:p>
                      <a:r>
                        <a:rPr lang="en-US" sz="2500"/>
                        <a:t>Other Attributes</a:t>
                      </a:r>
                    </a:p>
                  </a:txBody>
                  <a:tcPr marL="128955" marR="128955" marT="64477" marB="64477"/>
                </a:tc>
                <a:extLst>
                  <a:ext uri="{0D108BD9-81ED-4DB2-BD59-A6C34878D82A}">
                    <a16:rowId xmlns:a16="http://schemas.microsoft.com/office/drawing/2014/main" val="1158968560"/>
                  </a:ext>
                </a:extLst>
              </a:tr>
              <a:tr h="250172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Days (int)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Views(int)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Mature Audience(bool)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Game (str)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Twitch Partner (bool)</a:t>
                      </a:r>
                    </a:p>
                  </a:txBody>
                  <a:tcPr marL="128955" marR="128955" marT="64477" marB="64477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500"/>
                        <a:t>Channel ID (int)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Name (str)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500"/>
                        <a:t>New ID(int)</a:t>
                      </a:r>
                    </a:p>
                  </a:txBody>
                  <a:tcPr marL="128955" marR="128955" marT="64477" marB="64477"/>
                </a:tc>
                <a:extLst>
                  <a:ext uri="{0D108BD9-81ED-4DB2-BD59-A6C34878D82A}">
                    <a16:rowId xmlns:a16="http://schemas.microsoft.com/office/drawing/2014/main" val="221774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795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D3308-D227-EDEA-6446-95A24197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Limitations in the Dataset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E3847-8996-B8B7-682E-81B46612D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Views are not based on the games played and is rather based on the Streamers Viewer counts</a:t>
            </a:r>
          </a:p>
          <a:p>
            <a:r>
              <a:rPr lang="en-US" sz="2200"/>
              <a:t>Games column does not consist of any attribute. It only represents what content the user is currently engaged with</a:t>
            </a:r>
          </a:p>
          <a:p>
            <a:r>
              <a:rPr lang="en-US" sz="2200"/>
              <a:t>Any Data Related to Time of Day are not available in the dataset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7F1DD3AD-27A8-D7D3-48AE-A4D8CEB03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52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5527-92A1-2934-04FE-BB93948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us API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1608011-3638-9D61-510A-27CC88524F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882622"/>
              </p:ext>
            </p:extLst>
          </p:nvPr>
        </p:nvGraphicFramePr>
        <p:xfrm>
          <a:off x="5731181" y="2930375"/>
          <a:ext cx="6115465" cy="3646458"/>
        </p:xfrm>
        <a:graphic>
          <a:graphicData uri="http://schemas.openxmlformats.org/drawingml/2006/table">
            <a:tbl>
              <a:tblPr/>
              <a:tblGrid>
                <a:gridCol w="488220">
                  <a:extLst>
                    <a:ext uri="{9D8B030D-6E8A-4147-A177-3AD203B41FA5}">
                      <a16:colId xmlns:a16="http://schemas.microsoft.com/office/drawing/2014/main" val="1395154569"/>
                    </a:ext>
                  </a:extLst>
                </a:gridCol>
                <a:gridCol w="442160">
                  <a:extLst>
                    <a:ext uri="{9D8B030D-6E8A-4147-A177-3AD203B41FA5}">
                      <a16:colId xmlns:a16="http://schemas.microsoft.com/office/drawing/2014/main" val="265548086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1476011301"/>
                    </a:ext>
                  </a:extLst>
                </a:gridCol>
                <a:gridCol w="442160">
                  <a:extLst>
                    <a:ext uri="{9D8B030D-6E8A-4147-A177-3AD203B41FA5}">
                      <a16:colId xmlns:a16="http://schemas.microsoft.com/office/drawing/2014/main" val="1448305545"/>
                    </a:ext>
                  </a:extLst>
                </a:gridCol>
                <a:gridCol w="474849">
                  <a:extLst>
                    <a:ext uri="{9D8B030D-6E8A-4147-A177-3AD203B41FA5}">
                      <a16:colId xmlns:a16="http://schemas.microsoft.com/office/drawing/2014/main" val="3836797304"/>
                    </a:ext>
                  </a:extLst>
                </a:gridCol>
                <a:gridCol w="465383">
                  <a:extLst>
                    <a:ext uri="{9D8B030D-6E8A-4147-A177-3AD203B41FA5}">
                      <a16:colId xmlns:a16="http://schemas.microsoft.com/office/drawing/2014/main" val="453695103"/>
                    </a:ext>
                  </a:extLst>
                </a:gridCol>
                <a:gridCol w="1455446">
                  <a:extLst>
                    <a:ext uri="{9D8B030D-6E8A-4147-A177-3AD203B41FA5}">
                      <a16:colId xmlns:a16="http://schemas.microsoft.com/office/drawing/2014/main" val="1067602762"/>
                    </a:ext>
                  </a:extLst>
                </a:gridCol>
                <a:gridCol w="1870997">
                  <a:extLst>
                    <a:ext uri="{9D8B030D-6E8A-4147-A177-3AD203B41FA5}">
                      <a16:colId xmlns:a16="http://schemas.microsoft.com/office/drawing/2014/main" val="4113563351"/>
                    </a:ext>
                  </a:extLst>
                </a:gridCol>
              </a:tblGrid>
              <a:tr h="19840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mature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new_id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display_name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game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00451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73045350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CaptainTeabeard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Planet Zoo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635036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61573865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AwakenedOne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Napoleon: Total War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700016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171688860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CharlotteSomething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Just Chatting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580821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117338954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Mochi_Green_Tea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957849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135804217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onewithtehforce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Minecraft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659010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50273956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Aletdownofstate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Titanfall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719868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40189534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SkittlesRandom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Good Life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610253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126853728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ShadowScissors_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Final Fantasy XIV Online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7158937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118869338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lemonlimepickle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49710"/>
                  </a:ext>
                </a:extLst>
              </a:tr>
              <a:tr h="325706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115599547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313084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S1MPAGG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Counter-Strike: Global Offensive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251944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BCFABF-F8FB-0F45-48D7-4005170B2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993256"/>
              </p:ext>
            </p:extLst>
          </p:nvPr>
        </p:nvGraphicFramePr>
        <p:xfrm>
          <a:off x="582072" y="2241100"/>
          <a:ext cx="4659549" cy="2523125"/>
        </p:xfrm>
        <a:graphic>
          <a:graphicData uri="http://schemas.openxmlformats.org/drawingml/2006/table">
            <a:tbl>
              <a:tblPr/>
              <a:tblGrid>
                <a:gridCol w="842854">
                  <a:extLst>
                    <a:ext uri="{9D8B030D-6E8A-4147-A177-3AD203B41FA5}">
                      <a16:colId xmlns:a16="http://schemas.microsoft.com/office/drawing/2014/main" val="633933310"/>
                    </a:ext>
                  </a:extLst>
                </a:gridCol>
                <a:gridCol w="763339">
                  <a:extLst>
                    <a:ext uri="{9D8B030D-6E8A-4147-A177-3AD203B41FA5}">
                      <a16:colId xmlns:a16="http://schemas.microsoft.com/office/drawing/2014/main" val="1069522740"/>
                    </a:ext>
                  </a:extLst>
                </a:gridCol>
                <a:gridCol w="763339">
                  <a:extLst>
                    <a:ext uri="{9D8B030D-6E8A-4147-A177-3AD203B41FA5}">
                      <a16:colId xmlns:a16="http://schemas.microsoft.com/office/drawing/2014/main" val="1125141894"/>
                    </a:ext>
                  </a:extLst>
                </a:gridCol>
                <a:gridCol w="763339">
                  <a:extLst>
                    <a:ext uri="{9D8B030D-6E8A-4147-A177-3AD203B41FA5}">
                      <a16:colId xmlns:a16="http://schemas.microsoft.com/office/drawing/2014/main" val="4097772769"/>
                    </a:ext>
                  </a:extLst>
                </a:gridCol>
                <a:gridCol w="763339">
                  <a:extLst>
                    <a:ext uri="{9D8B030D-6E8A-4147-A177-3AD203B41FA5}">
                      <a16:colId xmlns:a16="http://schemas.microsoft.com/office/drawing/2014/main" val="3320507650"/>
                    </a:ext>
                  </a:extLst>
                </a:gridCol>
                <a:gridCol w="763339">
                  <a:extLst>
                    <a:ext uri="{9D8B030D-6E8A-4147-A177-3AD203B41FA5}">
                      <a16:colId xmlns:a16="http://schemas.microsoft.com/office/drawing/2014/main" val="3220789840"/>
                    </a:ext>
                  </a:extLst>
                </a:gridCol>
              </a:tblGrid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mature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views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partner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new_id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76966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73045350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1326271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61573865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1629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292811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171688860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46546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222905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117338954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428034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135804217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718412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50273956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1820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4594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8362059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40189534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18460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119416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126853728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6367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7405260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118869338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TRUE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185830"/>
                  </a:ext>
                </a:extLst>
              </a:tr>
              <a:tr h="22937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115599547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313084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4470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46120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891F4D6-16AE-74BD-7B8F-32897F8BC37C}"/>
              </a:ext>
            </a:extLst>
          </p:cNvPr>
          <p:cNvSpPr txBox="1"/>
          <p:nvPr/>
        </p:nvSpPr>
        <p:spPr>
          <a:xfrm>
            <a:off x="716902" y="1594769"/>
            <a:ext cx="387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SNAP Twitch Social Network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AAD932-3AAB-08D2-D1B2-B694A05008A8}"/>
              </a:ext>
            </a:extLst>
          </p:cNvPr>
          <p:cNvSpPr txBox="1"/>
          <p:nvPr/>
        </p:nvSpPr>
        <p:spPr>
          <a:xfrm>
            <a:off x="5731181" y="2446373"/>
            <a:ext cx="47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Dataset</a:t>
            </a:r>
          </a:p>
        </p:txBody>
      </p:sp>
    </p:spTree>
    <p:extLst>
      <p:ext uri="{BB962C8B-B14F-4D97-AF65-F5344CB8AC3E}">
        <p14:creationId xmlns:p14="http://schemas.microsoft.com/office/powerpoint/2010/main" val="375638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34BA7145-B37B-06EA-AD5B-CF06F11863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176337"/>
            <a:ext cx="12279086" cy="5681663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ef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getchannelinfo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(id):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72737A"/>
                </a:solidFill>
                <a:effectLst/>
                <a:latin typeface="JetBrains Mono"/>
              </a:rPr>
              <a:t>headers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'Accept': 'application/vnd.twitchtv.v5=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json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',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'Client-ID'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'ags3p7s1tpwpo3266t0pbikcmpc2s6'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                    'Authorization: Bearer qpk2zce5i1qon2farnpfqacfiv97mv'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72737A"/>
                </a:solidFill>
                <a:effectLst/>
                <a:latin typeface="JetBrains Mono"/>
              </a:rPr>
              <a:t>url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72737A"/>
                </a:solidFill>
                <a:effectLst/>
                <a:latin typeface="JetBrains Mono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f"https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://api.twitch.tv/helix/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channels?broadcaster_id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=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urllib.request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Request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urlopen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Python 3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except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ImportError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from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urllib2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Request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urlopen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Python 2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 = Request(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f"https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://api.twitch.tv/helix/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channels?broadcaster_id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=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req.add_header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'Client-ID'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'ags3p7s1tpwpo3266t0pbikcmpc2s6'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req.add_header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'Authorization'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'Bearer qpk2zce5i1qon2farnpfqacfiv97mv'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content 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urlopen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(req).read()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content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pd.read_csv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'D: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Stevens Institute of Technology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Sem -3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twitch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ENGB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musae_ENGB_target.csv'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file_data.rename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columns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{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'id'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channel_id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new_id'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inplace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True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# print(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file_data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broadcaster_name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game_name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[]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[]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index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row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file_data.iterrows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json.loads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getchannelinfo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(row[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channel_id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]))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'data'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data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req_data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[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'data'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file_data.insert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(index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game_name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data[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game_name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file_data.insert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(index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broadcaster_name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data[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broadcaster_name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])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else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game_name.append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broadcaster_name.append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break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file_data.to_csv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'D: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Stevens Institute of Technology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Sem -3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twitch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ENGB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\\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musae_ENGB_target_new.csv'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file_data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9CF7E17-9245-2F5D-76CC-02EAD52AF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94538"/>
            <a:ext cx="10515600" cy="811212"/>
          </a:xfrm>
        </p:spPr>
        <p:txBody>
          <a:bodyPr/>
          <a:lstStyle/>
          <a:p>
            <a:r>
              <a:rPr lang="en-US" dirty="0"/>
              <a:t>Getting user properties with Twitch API</a:t>
            </a:r>
          </a:p>
        </p:txBody>
      </p:sp>
    </p:spTree>
    <p:extLst>
      <p:ext uri="{BB962C8B-B14F-4D97-AF65-F5344CB8AC3E}">
        <p14:creationId xmlns:p14="http://schemas.microsoft.com/office/powerpoint/2010/main" val="76167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19BF9-9074-2E19-84DA-B2ED67FF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Modularity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8390F-39C9-444D-B41E-3CE6A9707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3695067" cy="2579593"/>
          </a:xfrm>
        </p:spPr>
        <p:txBody>
          <a:bodyPr>
            <a:normAutofit/>
          </a:bodyPr>
          <a:lstStyle/>
          <a:p>
            <a:r>
              <a:rPr lang="en-US" sz="1600" i="1" u="sng" dirty="0"/>
              <a:t>Parameters:</a:t>
            </a:r>
          </a:p>
          <a:p>
            <a:pPr lvl="1"/>
            <a:r>
              <a:rPr lang="en-US" sz="1600" dirty="0"/>
              <a:t>Randomize: On</a:t>
            </a:r>
          </a:p>
          <a:p>
            <a:pPr lvl="1"/>
            <a:r>
              <a:rPr lang="en-US" sz="1600" dirty="0"/>
              <a:t>Use edge weights: Off</a:t>
            </a:r>
          </a:p>
          <a:p>
            <a:pPr lvl="1"/>
            <a:r>
              <a:rPr lang="en-US" sz="1600" dirty="0"/>
              <a:t>Resolution: 1.0</a:t>
            </a:r>
          </a:p>
          <a:p>
            <a:r>
              <a:rPr lang="en-US" sz="1600" i="1" u="sng" dirty="0"/>
              <a:t>Results:</a:t>
            </a:r>
          </a:p>
          <a:p>
            <a:pPr lvl="1"/>
            <a:r>
              <a:rPr lang="en-US" sz="1600" dirty="0"/>
              <a:t>Modularity: 0.447</a:t>
            </a:r>
          </a:p>
          <a:p>
            <a:pPr lvl="1"/>
            <a:r>
              <a:rPr lang="en-US" sz="1600" dirty="0"/>
              <a:t>Modularity with resolution: 0.447</a:t>
            </a:r>
          </a:p>
          <a:p>
            <a:pPr lvl="1"/>
            <a:r>
              <a:rPr lang="en-US" sz="1600" dirty="0"/>
              <a:t>Number of Communities</a:t>
            </a:r>
            <a:r>
              <a:rPr lang="en-US" sz="1600"/>
              <a:t>: 15</a:t>
            </a:r>
            <a:endParaRPr lang="en-US" sz="1600" dirty="0"/>
          </a:p>
          <a:p>
            <a:pPr marL="457200" lvl="1" indent="0">
              <a:buNone/>
            </a:pPr>
            <a:endParaRPr lang="en-US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8ACD7E93-D766-A9B9-3942-74286C3EF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19" y="321733"/>
            <a:ext cx="6253212" cy="415838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37847A8-C226-28A9-95BD-2BCF8A487E3E}"/>
              </a:ext>
            </a:extLst>
          </p:cNvPr>
          <p:cNvSpPr txBox="1"/>
          <p:nvPr/>
        </p:nvSpPr>
        <p:spPr>
          <a:xfrm>
            <a:off x="758757" y="5254347"/>
            <a:ext cx="3968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0.447  Modularity score implies wide distribution of edge density throughout the network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0DAA56-E2D5-1138-566F-2EE804290885}"/>
              </a:ext>
            </a:extLst>
          </p:cNvPr>
          <p:cNvSpPr txBox="1"/>
          <p:nvPr/>
        </p:nvSpPr>
        <p:spPr>
          <a:xfrm>
            <a:off x="5917052" y="4601497"/>
            <a:ext cx="50097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Network Statistics</a:t>
            </a:r>
          </a:p>
          <a:p>
            <a:r>
              <a:rPr lang="en-US" dirty="0"/>
              <a:t>Degree Range	:1-720</a:t>
            </a:r>
          </a:p>
          <a:p>
            <a:r>
              <a:rPr lang="en-US" dirty="0"/>
              <a:t>Diameter		:14</a:t>
            </a:r>
          </a:p>
        </p:txBody>
      </p:sp>
    </p:spTree>
    <p:extLst>
      <p:ext uri="{BB962C8B-B14F-4D97-AF65-F5344CB8AC3E}">
        <p14:creationId xmlns:p14="http://schemas.microsoft.com/office/powerpoint/2010/main" val="1953045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2C39B-83F4-7CC9-46FB-F86FF087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Graph Visualization</a:t>
            </a:r>
          </a:p>
        </p:txBody>
      </p:sp>
      <p:sp>
        <p:nvSpPr>
          <p:cNvPr id="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FAF23-05F0-97F9-CAAB-D5A458D79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982" y="2872899"/>
            <a:ext cx="5114611" cy="33206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700" b="1" u="sng" dirty="0"/>
              <a:t>15 Clusters detected using Gephi</a:t>
            </a:r>
          </a:p>
          <a:p>
            <a:r>
              <a:rPr lang="en-US" sz="1700" dirty="0"/>
              <a:t>Filter: Partition(Modularity Class)(6/15 Selected)---&gt;Giant Component---&gt;Degree Range(3-720)</a:t>
            </a:r>
          </a:p>
          <a:p>
            <a:r>
              <a:rPr lang="en-US" sz="1700" dirty="0"/>
              <a:t>Color Partitioned: Modularity Class</a:t>
            </a:r>
          </a:p>
          <a:p>
            <a:r>
              <a:rPr lang="en-US" sz="1700" dirty="0"/>
              <a:t>Size: Degree</a:t>
            </a:r>
          </a:p>
          <a:p>
            <a:r>
              <a:rPr lang="en-US" sz="1700" dirty="0"/>
              <a:t>Layout: Force Atlas 2</a:t>
            </a:r>
          </a:p>
          <a:p>
            <a:pPr marL="0" indent="0">
              <a:buNone/>
            </a:pPr>
            <a:endParaRPr lang="en-US" sz="17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700" dirty="0"/>
              <a:t>Pink and Green have high Degree and hence are closely connected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dirty="0"/>
              <a:t>Steel Blue colored nodes are weakly connected as they have low degree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dirty="0"/>
              <a:t>Low embeddedness of represents weakly connected nodes and show low degree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700" dirty="0"/>
              <a:t>Bigger degree of nodes are strongly connected</a:t>
            </a:r>
          </a:p>
        </p:txBody>
      </p:sp>
      <p:pic>
        <p:nvPicPr>
          <p:cNvPr id="7" name="Picture 6" descr="A picture containing map&#10;&#10;Description automatically generated">
            <a:extLst>
              <a:ext uri="{FF2B5EF4-FFF2-40B4-BE49-F238E27FC236}">
                <a16:creationId xmlns:a16="http://schemas.microsoft.com/office/drawing/2014/main" id="{41BFC829-5C49-BEDB-5F7F-B97B91ECF4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5" r="8368"/>
          <a:stretch/>
        </p:blipFill>
        <p:spPr>
          <a:xfrm>
            <a:off x="5279277" y="441571"/>
            <a:ext cx="6639080" cy="6416429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29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16" descr="Chart, scatter chart&#10;&#10;Description automatically generated">
            <a:extLst>
              <a:ext uri="{FF2B5EF4-FFF2-40B4-BE49-F238E27FC236}">
                <a16:creationId xmlns:a16="http://schemas.microsoft.com/office/drawing/2014/main" id="{63095E3F-BD63-A48B-A91C-75E5E1D76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" t="4025" r="18975" b="30467"/>
          <a:stretch/>
        </p:blipFill>
        <p:spPr>
          <a:xfrm>
            <a:off x="5778231" y="1570618"/>
            <a:ext cx="6194042" cy="4972306"/>
          </a:xfrm>
          <a:prstGeom prst="rect">
            <a:avLst/>
          </a:prstGeom>
          <a:ln>
            <a:noFill/>
          </a:ln>
        </p:spPr>
      </p:pic>
      <p:sp>
        <p:nvSpPr>
          <p:cNvPr id="56" name="Isosceles Triangle 5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7EEA047-055D-AF83-9C15-B0365789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25370"/>
            <a:ext cx="7171231" cy="1065686"/>
          </a:xfrm>
        </p:spPr>
        <p:txBody>
          <a:bodyPr anchor="b">
            <a:normAutofit/>
          </a:bodyPr>
          <a:lstStyle/>
          <a:p>
            <a:r>
              <a:rPr lang="en-US" sz="5400" dirty="0"/>
              <a:t>Graph Visualization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85905A-7950-B194-2261-51F681E06D0E}"/>
              </a:ext>
            </a:extLst>
          </p:cNvPr>
          <p:cNvSpPr txBox="1"/>
          <p:nvPr/>
        </p:nvSpPr>
        <p:spPr>
          <a:xfrm>
            <a:off x="757980" y="1341879"/>
            <a:ext cx="4396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Twitch Partnership Community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56F0EF-3F7A-60C7-3D0D-34CC810A56B1}"/>
              </a:ext>
            </a:extLst>
          </p:cNvPr>
          <p:cNvSpPr txBox="1"/>
          <p:nvPr/>
        </p:nvSpPr>
        <p:spPr>
          <a:xfrm>
            <a:off x="904672" y="1964987"/>
            <a:ext cx="43969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Nodes that has a degree greater than 110 are all partnered with twitch due to its high centrality</a:t>
            </a:r>
          </a:p>
          <a:p>
            <a:endParaRPr lang="en-US" dirty="0"/>
          </a:p>
          <a:p>
            <a:r>
              <a:rPr lang="en-US" dirty="0"/>
              <a:t>Cluster at the right represents a cluster with majority of nodes that has partners</a:t>
            </a:r>
          </a:p>
          <a:p>
            <a:endParaRPr lang="en-US" dirty="0"/>
          </a:p>
          <a:p>
            <a:r>
              <a:rPr lang="en-US" dirty="0"/>
              <a:t>Nodes with no partners are scattered through out the network</a:t>
            </a:r>
          </a:p>
          <a:p>
            <a:endParaRPr lang="en-US" dirty="0"/>
          </a:p>
          <a:p>
            <a:r>
              <a:rPr lang="en-US" dirty="0"/>
              <a:t>High degree represents higher possibility of Subscriber having partnered with Twitch</a:t>
            </a:r>
          </a:p>
        </p:txBody>
      </p:sp>
    </p:spTree>
    <p:extLst>
      <p:ext uri="{BB962C8B-B14F-4D97-AF65-F5344CB8AC3E}">
        <p14:creationId xmlns:p14="http://schemas.microsoft.com/office/powerpoint/2010/main" val="2246609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Chart, bubble chart&#10;&#10;Description automatically generated">
            <a:extLst>
              <a:ext uri="{FF2B5EF4-FFF2-40B4-BE49-F238E27FC236}">
                <a16:creationId xmlns:a16="http://schemas.microsoft.com/office/drawing/2014/main" id="{A60E7FB4-EB01-9420-C77A-908B76FE0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66693" cy="6850670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7895252-7E25-FD2E-B966-6ADECB774EB5}"/>
              </a:ext>
            </a:extLst>
          </p:cNvPr>
          <p:cNvSpPr txBox="1"/>
          <p:nvPr/>
        </p:nvSpPr>
        <p:spPr>
          <a:xfrm>
            <a:off x="8311827" y="295131"/>
            <a:ext cx="33097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Degree Range:	17-720</a:t>
            </a:r>
          </a:p>
          <a:p>
            <a:r>
              <a:rPr lang="en-US" dirty="0"/>
              <a:t>Node Color	: Partner</a:t>
            </a:r>
          </a:p>
          <a:p>
            <a:r>
              <a:rPr lang="en-US" dirty="0"/>
              <a:t>Node Size		: Degree</a:t>
            </a:r>
          </a:p>
          <a:p>
            <a:r>
              <a:rPr lang="en-US" dirty="0"/>
              <a:t>Partition		: Modularity 		  (top6)</a:t>
            </a:r>
          </a:p>
          <a:p>
            <a:r>
              <a:rPr lang="en-US" dirty="0"/>
              <a:t>Giant Components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1413A-44C0-CAD3-CF13-93BAB34DA78F}"/>
              </a:ext>
            </a:extLst>
          </p:cNvPr>
          <p:cNvSpPr txBox="1"/>
          <p:nvPr/>
        </p:nvSpPr>
        <p:spPr>
          <a:xfrm>
            <a:off x="7511143" y="2519265"/>
            <a:ext cx="39935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Degree represents POPULAR Streamers with Twitch partnership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can help determine Users that can have more impact on the community as compared to other users</a:t>
            </a:r>
          </a:p>
        </p:txBody>
      </p:sp>
    </p:spTree>
    <p:extLst>
      <p:ext uri="{BB962C8B-B14F-4D97-AF65-F5344CB8AC3E}">
        <p14:creationId xmlns:p14="http://schemas.microsoft.com/office/powerpoint/2010/main" val="3095261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3F3-849A-D1B1-B60C-2F613BB2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357"/>
          </a:xfrm>
        </p:spPr>
        <p:txBody>
          <a:bodyPr/>
          <a:lstStyle/>
          <a:p>
            <a:r>
              <a:rPr lang="en-US" dirty="0"/>
              <a:t>Community Detection</a:t>
            </a:r>
          </a:p>
        </p:txBody>
      </p:sp>
      <p:pic>
        <p:nvPicPr>
          <p:cNvPr id="11" name="Content Placeholder 10" descr="A firework in the sky&#10;&#10;Description automatically generated with low confidence">
            <a:extLst>
              <a:ext uri="{FF2B5EF4-FFF2-40B4-BE49-F238E27FC236}">
                <a16:creationId xmlns:a16="http://schemas.microsoft.com/office/drawing/2014/main" id="{8475EEDB-B651-3B87-2786-F5A7B23FE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21" y="1357482"/>
            <a:ext cx="9369292" cy="5369122"/>
          </a:xfrm>
        </p:spPr>
      </p:pic>
    </p:spTree>
    <p:extLst>
      <p:ext uri="{BB962C8B-B14F-4D97-AF65-F5344CB8AC3E}">
        <p14:creationId xmlns:p14="http://schemas.microsoft.com/office/powerpoint/2010/main" val="190064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754DB-7566-B85F-3348-D97433E2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endParaRPr lang="en-US" sz="6600"/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icture containing light&#10;&#10;Description automatically generated">
            <a:extLst>
              <a:ext uri="{FF2B5EF4-FFF2-40B4-BE49-F238E27FC236}">
                <a16:creationId xmlns:a16="http://schemas.microsoft.com/office/drawing/2014/main" id="{BA71686F-ABC9-7FB3-99EB-F21C865FC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355"/>
            <a:ext cx="4172777" cy="3600041"/>
          </a:xfrm>
          <a:prstGeom prst="rect">
            <a:avLst/>
          </a:prstGeom>
        </p:spPr>
      </p:pic>
      <p:pic>
        <p:nvPicPr>
          <p:cNvPr id="5" name="Content Placeholder 4" descr="A picture containing outdoor object, night sky&#10;&#10;Description automatically generated">
            <a:extLst>
              <a:ext uri="{FF2B5EF4-FFF2-40B4-BE49-F238E27FC236}">
                <a16:creationId xmlns:a16="http://schemas.microsoft.com/office/drawing/2014/main" id="{D8BB182A-B0FA-8C27-3341-768ACB332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777" y="18355"/>
            <a:ext cx="3846448" cy="36000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CDB6A-32E0-E8E2-8190-817C4D494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224" y="18355"/>
            <a:ext cx="4172776" cy="36000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B1348F-35C5-8420-71CD-927E625CF01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044"/>
          <a:stretch/>
        </p:blipFill>
        <p:spPr>
          <a:xfrm>
            <a:off x="3758381" y="3600041"/>
            <a:ext cx="4675240" cy="32396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70D142-0F1B-4FB3-A189-2E9A640C60C2}"/>
              </a:ext>
            </a:extLst>
          </p:cNvPr>
          <p:cNvSpPr txBox="1"/>
          <p:nvPr/>
        </p:nvSpPr>
        <p:spPr>
          <a:xfrm>
            <a:off x="0" y="3766930"/>
            <a:ext cx="36874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Partitioned (Modularity Class) to show relationship between top 3 communities using </a:t>
            </a:r>
            <a:r>
              <a:rPr lang="en-US" b="1" dirty="0"/>
              <a:t>OPENORD</a:t>
            </a:r>
            <a:r>
              <a:rPr lang="en-US" dirty="0"/>
              <a:t> Layout</a:t>
            </a:r>
          </a:p>
          <a:p>
            <a:r>
              <a:rPr lang="en-US" u="sng" dirty="0"/>
              <a:t>Degree Range</a:t>
            </a:r>
            <a:r>
              <a:rPr lang="en-US" dirty="0"/>
              <a:t>	: 53-720</a:t>
            </a:r>
          </a:p>
          <a:p>
            <a:r>
              <a:rPr lang="en-US" u="sng" dirty="0"/>
              <a:t>Color</a:t>
            </a:r>
            <a:r>
              <a:rPr lang="en-US" dirty="0"/>
              <a:t>		: Modularity Class</a:t>
            </a:r>
          </a:p>
          <a:p>
            <a:r>
              <a:rPr lang="en-US" u="sng" dirty="0"/>
              <a:t>Size</a:t>
            </a:r>
            <a:r>
              <a:rPr lang="en-US" dirty="0"/>
              <a:t>		: Range</a:t>
            </a:r>
          </a:p>
          <a:p>
            <a:r>
              <a:rPr lang="en-US" dirty="0"/>
              <a:t>Density		: 0.055</a:t>
            </a:r>
          </a:p>
          <a:p>
            <a:r>
              <a:rPr lang="en-US" dirty="0"/>
              <a:t>Average Degree	: 6.090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highlight connection between an Individual nodes with its connected nodes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C98699-FEC1-B799-8393-DAC7C51D4EFD}"/>
              </a:ext>
            </a:extLst>
          </p:cNvPr>
          <p:cNvSpPr txBox="1"/>
          <p:nvPr/>
        </p:nvSpPr>
        <p:spPr>
          <a:xfrm>
            <a:off x="8433621" y="3628430"/>
            <a:ext cx="37553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Communities and the nodes that exist inside the communities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relationship between nodes that belong to different communities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shortest path between two nodes if any undirected connection exists</a:t>
            </a:r>
          </a:p>
        </p:txBody>
      </p:sp>
    </p:spTree>
    <p:extLst>
      <p:ext uri="{BB962C8B-B14F-4D97-AF65-F5344CB8AC3E}">
        <p14:creationId xmlns:p14="http://schemas.microsoft.com/office/powerpoint/2010/main" val="334085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3B1BEA-1159-4AE5-AD9B-9440E5189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D50C310-510F-45B8-81D2-BE905D5C6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570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6B54C-F13D-F5DE-607C-7429E4BD618A}"/>
              </a:ext>
            </a:extLst>
          </p:cNvPr>
          <p:cNvSpPr txBox="1"/>
          <p:nvPr/>
        </p:nvSpPr>
        <p:spPr>
          <a:xfrm>
            <a:off x="4654295" y="381000"/>
            <a:ext cx="6894576" cy="2003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FacitTv and its neighboring connections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Highlighting shortest distance between </a:t>
            </a:r>
            <a:r>
              <a:rPr lang="en-US" sz="2200" dirty="0" err="1"/>
              <a:t>FacitTV</a:t>
            </a:r>
            <a:r>
              <a:rPr lang="en-US" sz="2200" dirty="0"/>
              <a:t> and  GreekGodex (name of the Streamers)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AB452-5AD7-F1B7-13DA-998D8360D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146" b="2"/>
          <a:stretch/>
        </p:blipFill>
        <p:spPr>
          <a:xfrm>
            <a:off x="8" y="2668687"/>
            <a:ext cx="6095992" cy="4189309"/>
          </a:xfrm>
          <a:custGeom>
            <a:avLst/>
            <a:gdLst/>
            <a:ahLst/>
            <a:cxnLst/>
            <a:rect l="l" t="t" r="r" b="b"/>
            <a:pathLst>
              <a:path w="6005375" h="4189309">
                <a:moveTo>
                  <a:pt x="5422311" y="873"/>
                </a:moveTo>
                <a:cubicBezTo>
                  <a:pt x="5467738" y="-1249"/>
                  <a:pt x="5513346" y="499"/>
                  <a:pt x="5558643" y="6137"/>
                </a:cubicBezTo>
                <a:cubicBezTo>
                  <a:pt x="5633356" y="13367"/>
                  <a:pt x="5708323" y="18441"/>
                  <a:pt x="5783036" y="26052"/>
                </a:cubicBezTo>
                <a:cubicBezTo>
                  <a:pt x="5816269" y="29477"/>
                  <a:pt x="5849884" y="16792"/>
                  <a:pt x="5882612" y="28462"/>
                </a:cubicBezTo>
                <a:cubicBezTo>
                  <a:pt x="5909726" y="38166"/>
                  <a:pt x="5937089" y="43856"/>
                  <a:pt x="5964555" y="46416"/>
                </a:cubicBezTo>
                <a:lnTo>
                  <a:pt x="5997178" y="46088"/>
                </a:lnTo>
                <a:lnTo>
                  <a:pt x="5995170" y="275470"/>
                </a:lnTo>
                <a:cubicBezTo>
                  <a:pt x="5993432" y="411056"/>
                  <a:pt x="5993035" y="546624"/>
                  <a:pt x="5999656" y="682159"/>
                </a:cubicBezTo>
                <a:cubicBezTo>
                  <a:pt x="6009854" y="891918"/>
                  <a:pt x="6003364" y="1101545"/>
                  <a:pt x="5999656" y="1311172"/>
                </a:cubicBezTo>
                <a:cubicBezTo>
                  <a:pt x="5992506" y="1713210"/>
                  <a:pt x="6003364" y="2114718"/>
                  <a:pt x="5998730" y="2516227"/>
                </a:cubicBezTo>
                <a:cubicBezTo>
                  <a:pt x="5996744" y="2694204"/>
                  <a:pt x="5998994" y="2871916"/>
                  <a:pt x="6003364" y="3049893"/>
                </a:cubicBezTo>
                <a:cubicBezTo>
                  <a:pt x="6009720" y="3304015"/>
                  <a:pt x="5999922" y="3558268"/>
                  <a:pt x="5989196" y="3812257"/>
                </a:cubicBezTo>
                <a:cubicBezTo>
                  <a:pt x="5985594" y="3882097"/>
                  <a:pt x="5984646" y="3952020"/>
                  <a:pt x="5986348" y="4021878"/>
                </a:cubicBezTo>
                <a:lnTo>
                  <a:pt x="5996786" y="4189309"/>
                </a:lnTo>
                <a:lnTo>
                  <a:pt x="0" y="4189309"/>
                </a:lnTo>
                <a:lnTo>
                  <a:pt x="0" y="27247"/>
                </a:lnTo>
                <a:lnTo>
                  <a:pt x="495" y="27408"/>
                </a:lnTo>
                <a:cubicBezTo>
                  <a:pt x="5176" y="27551"/>
                  <a:pt x="10686" y="26465"/>
                  <a:pt x="17314" y="23896"/>
                </a:cubicBezTo>
                <a:cubicBezTo>
                  <a:pt x="33823" y="19050"/>
                  <a:pt x="50862" y="16234"/>
                  <a:pt x="68053" y="15524"/>
                </a:cubicBezTo>
                <a:cubicBezTo>
                  <a:pt x="200481" y="-1093"/>
                  <a:pt x="333037" y="3346"/>
                  <a:pt x="466100" y="8801"/>
                </a:cubicBezTo>
                <a:cubicBezTo>
                  <a:pt x="697850" y="18187"/>
                  <a:pt x="929854" y="29096"/>
                  <a:pt x="1161985" y="25798"/>
                </a:cubicBezTo>
                <a:cubicBezTo>
                  <a:pt x="1397540" y="22373"/>
                  <a:pt x="1632588" y="29604"/>
                  <a:pt x="1867890" y="39117"/>
                </a:cubicBezTo>
                <a:cubicBezTo>
                  <a:pt x="1971017" y="43050"/>
                  <a:pt x="2074779" y="46982"/>
                  <a:pt x="2176256" y="17680"/>
                </a:cubicBezTo>
                <a:cubicBezTo>
                  <a:pt x="2199190" y="12314"/>
                  <a:pt x="2223101" y="12834"/>
                  <a:pt x="2245769" y="19202"/>
                </a:cubicBezTo>
                <a:cubicBezTo>
                  <a:pt x="2359678" y="45713"/>
                  <a:pt x="2474221" y="53578"/>
                  <a:pt x="2589398" y="27447"/>
                </a:cubicBezTo>
                <a:cubicBezTo>
                  <a:pt x="2721802" y="-1220"/>
                  <a:pt x="2858087" y="-7347"/>
                  <a:pt x="2992519" y="9308"/>
                </a:cubicBezTo>
                <a:cubicBezTo>
                  <a:pt x="3115435" y="23008"/>
                  <a:pt x="3238984" y="37849"/>
                  <a:pt x="3362153" y="26813"/>
                </a:cubicBezTo>
                <a:cubicBezTo>
                  <a:pt x="3556737" y="9308"/>
                  <a:pt x="3751067" y="24530"/>
                  <a:pt x="3945651" y="29223"/>
                </a:cubicBezTo>
                <a:cubicBezTo>
                  <a:pt x="4010343" y="30745"/>
                  <a:pt x="4075416" y="44064"/>
                  <a:pt x="4139727" y="32141"/>
                </a:cubicBezTo>
                <a:cubicBezTo>
                  <a:pt x="4241079" y="13367"/>
                  <a:pt x="4341288" y="20597"/>
                  <a:pt x="4442766" y="31126"/>
                </a:cubicBezTo>
                <a:cubicBezTo>
                  <a:pt x="4637096" y="51422"/>
                  <a:pt x="4831299" y="61189"/>
                  <a:pt x="5024742" y="23134"/>
                </a:cubicBezTo>
                <a:cubicBezTo>
                  <a:pt x="5084742" y="11211"/>
                  <a:pt x="5144359" y="4361"/>
                  <a:pt x="5205373" y="20344"/>
                </a:cubicBezTo>
                <a:cubicBezTo>
                  <a:pt x="5232315" y="26496"/>
                  <a:pt x="5260361" y="25976"/>
                  <a:pt x="5287062" y="18822"/>
                </a:cubicBezTo>
                <a:cubicBezTo>
                  <a:pt x="5331637" y="8985"/>
                  <a:pt x="5376883" y="2995"/>
                  <a:pt x="5422311" y="873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97C018-64B1-2842-D96C-50ECCA509D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479" b="-2"/>
          <a:stretch/>
        </p:blipFill>
        <p:spPr>
          <a:xfrm>
            <a:off x="6019800" y="2657872"/>
            <a:ext cx="6172193" cy="4200116"/>
          </a:xfrm>
          <a:custGeom>
            <a:avLst/>
            <a:gdLst/>
            <a:ahLst/>
            <a:cxnLst/>
            <a:rect l="l" t="t" r="r" b="b"/>
            <a:pathLst>
              <a:path w="6006950" h="4200116">
                <a:moveTo>
                  <a:pt x="1035902" y="878"/>
                </a:moveTo>
                <a:cubicBezTo>
                  <a:pt x="1135908" y="5076"/>
                  <a:pt x="1234824" y="23223"/>
                  <a:pt x="1334526" y="31024"/>
                </a:cubicBezTo>
                <a:cubicBezTo>
                  <a:pt x="1429408" y="38508"/>
                  <a:pt x="1524290" y="49417"/>
                  <a:pt x="1619679" y="34449"/>
                </a:cubicBezTo>
                <a:cubicBezTo>
                  <a:pt x="1713242" y="21726"/>
                  <a:pt x="1807870" y="18745"/>
                  <a:pt x="1902041" y="25570"/>
                </a:cubicBezTo>
                <a:cubicBezTo>
                  <a:pt x="2006183" y="30770"/>
                  <a:pt x="2110071" y="48021"/>
                  <a:pt x="2214847" y="33561"/>
                </a:cubicBezTo>
                <a:cubicBezTo>
                  <a:pt x="2228052" y="32216"/>
                  <a:pt x="2241384" y="33954"/>
                  <a:pt x="2253790" y="38635"/>
                </a:cubicBezTo>
                <a:cubicBezTo>
                  <a:pt x="2294520" y="52169"/>
                  <a:pt x="2338397" y="53007"/>
                  <a:pt x="2379622" y="41045"/>
                </a:cubicBezTo>
                <a:cubicBezTo>
                  <a:pt x="2431756" y="27168"/>
                  <a:pt x="2486503" y="26254"/>
                  <a:pt x="2539069" y="38381"/>
                </a:cubicBezTo>
                <a:cubicBezTo>
                  <a:pt x="2617207" y="55379"/>
                  <a:pt x="2695598" y="72123"/>
                  <a:pt x="2776908" y="58169"/>
                </a:cubicBezTo>
                <a:cubicBezTo>
                  <a:pt x="2824222" y="50178"/>
                  <a:pt x="2868111" y="30770"/>
                  <a:pt x="2914791" y="21637"/>
                </a:cubicBezTo>
                <a:cubicBezTo>
                  <a:pt x="3049249" y="-4620"/>
                  <a:pt x="3184976" y="3244"/>
                  <a:pt x="3320703" y="12124"/>
                </a:cubicBezTo>
                <a:cubicBezTo>
                  <a:pt x="3453259" y="20876"/>
                  <a:pt x="3585179" y="38888"/>
                  <a:pt x="3718496" y="36225"/>
                </a:cubicBezTo>
                <a:cubicBezTo>
                  <a:pt x="3746884" y="36440"/>
                  <a:pt x="3775210" y="38812"/>
                  <a:pt x="3803230" y="43328"/>
                </a:cubicBezTo>
                <a:cubicBezTo>
                  <a:pt x="3907245" y="57028"/>
                  <a:pt x="4011767" y="69966"/>
                  <a:pt x="4114640" y="42313"/>
                </a:cubicBezTo>
                <a:cubicBezTo>
                  <a:pt x="4206871" y="17312"/>
                  <a:pt x="4303111" y="10677"/>
                  <a:pt x="4397891" y="22779"/>
                </a:cubicBezTo>
                <a:cubicBezTo>
                  <a:pt x="4522696" y="39130"/>
                  <a:pt x="4648846" y="42707"/>
                  <a:pt x="4774374" y="33434"/>
                </a:cubicBezTo>
                <a:cubicBezTo>
                  <a:pt x="4813773" y="29515"/>
                  <a:pt x="4853387" y="28107"/>
                  <a:pt x="4892977" y="29248"/>
                </a:cubicBezTo>
                <a:cubicBezTo>
                  <a:pt x="5181681" y="42440"/>
                  <a:pt x="5471273" y="25062"/>
                  <a:pt x="5759471" y="55759"/>
                </a:cubicBezTo>
                <a:cubicBezTo>
                  <a:pt x="5805028" y="61131"/>
                  <a:pt x="5850896" y="61524"/>
                  <a:pt x="5896277" y="57017"/>
                </a:cubicBezTo>
                <a:lnTo>
                  <a:pt x="6006950" y="33749"/>
                </a:lnTo>
                <a:lnTo>
                  <a:pt x="6006950" y="4200116"/>
                </a:lnTo>
                <a:lnTo>
                  <a:pt x="13501" y="4200116"/>
                </a:lnTo>
                <a:lnTo>
                  <a:pt x="28554" y="3862213"/>
                </a:lnTo>
                <a:cubicBezTo>
                  <a:pt x="30457" y="3736758"/>
                  <a:pt x="27411" y="3611386"/>
                  <a:pt x="15626" y="3486312"/>
                </a:cubicBezTo>
                <a:cubicBezTo>
                  <a:pt x="-847" y="3333707"/>
                  <a:pt x="-4304" y="3179990"/>
                  <a:pt x="5296" y="3026802"/>
                </a:cubicBezTo>
                <a:cubicBezTo>
                  <a:pt x="11786" y="2939137"/>
                  <a:pt x="18539" y="2851472"/>
                  <a:pt x="22776" y="2763676"/>
                </a:cubicBezTo>
                <a:cubicBezTo>
                  <a:pt x="28180" y="2638786"/>
                  <a:pt x="25173" y="2513673"/>
                  <a:pt x="13771" y="2389181"/>
                </a:cubicBezTo>
                <a:cubicBezTo>
                  <a:pt x="4237" y="2294247"/>
                  <a:pt x="3177" y="2198663"/>
                  <a:pt x="10593" y="2103543"/>
                </a:cubicBezTo>
                <a:cubicBezTo>
                  <a:pt x="25690" y="1941590"/>
                  <a:pt x="9931" y="1779636"/>
                  <a:pt x="5032" y="1617814"/>
                </a:cubicBezTo>
                <a:cubicBezTo>
                  <a:pt x="-3577" y="1320125"/>
                  <a:pt x="20393" y="1022570"/>
                  <a:pt x="9666" y="724882"/>
                </a:cubicBezTo>
                <a:cubicBezTo>
                  <a:pt x="3841" y="577627"/>
                  <a:pt x="16420" y="430504"/>
                  <a:pt x="9666" y="283249"/>
                </a:cubicBezTo>
                <a:cubicBezTo>
                  <a:pt x="6885" y="230875"/>
                  <a:pt x="4568" y="178502"/>
                  <a:pt x="3409" y="126111"/>
                </a:cubicBezTo>
                <a:lnTo>
                  <a:pt x="3819" y="33427"/>
                </a:lnTo>
                <a:lnTo>
                  <a:pt x="31797" y="28723"/>
                </a:lnTo>
                <a:cubicBezTo>
                  <a:pt x="147177" y="14068"/>
                  <a:pt x="264046" y="13354"/>
                  <a:pt x="379873" y="26711"/>
                </a:cubicBezTo>
                <a:cubicBezTo>
                  <a:pt x="443931" y="35083"/>
                  <a:pt x="508243" y="47768"/>
                  <a:pt x="573442" y="35083"/>
                </a:cubicBezTo>
                <a:cubicBezTo>
                  <a:pt x="579581" y="33992"/>
                  <a:pt x="585759" y="36757"/>
                  <a:pt x="589044" y="42060"/>
                </a:cubicBezTo>
                <a:cubicBezTo>
                  <a:pt x="621264" y="81382"/>
                  <a:pt x="663123" y="80114"/>
                  <a:pt x="705871" y="67429"/>
                </a:cubicBezTo>
                <a:cubicBezTo>
                  <a:pt x="733929" y="58740"/>
                  <a:pt x="761430" y="48326"/>
                  <a:pt x="788194" y="36225"/>
                </a:cubicBezTo>
                <a:cubicBezTo>
                  <a:pt x="835052" y="16792"/>
                  <a:pt x="884827" y="5299"/>
                  <a:pt x="935464" y="2230"/>
                </a:cubicBezTo>
                <a:cubicBezTo>
                  <a:pt x="969111" y="-370"/>
                  <a:pt x="1002567" y="-521"/>
                  <a:pt x="1035902" y="87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9150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83B1BEA-1159-4AE5-AD9B-9440E5189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BE618-AF6B-3CA5-2C3C-09BE51345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381000"/>
            <a:ext cx="3419856" cy="20030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Identifying Mature Streamer within the community(18+)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50C310-510F-45B8-81D2-BE905D5C6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570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D6044-B21E-50C1-4618-8427A0050053}"/>
              </a:ext>
            </a:extLst>
          </p:cNvPr>
          <p:cNvSpPr txBox="1"/>
          <p:nvPr/>
        </p:nvSpPr>
        <p:spPr>
          <a:xfrm>
            <a:off x="4654295" y="381000"/>
            <a:ext cx="6894576" cy="20030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Filter: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Partition(Modularity Class)</a:t>
            </a:r>
          </a:p>
          <a:p>
            <a:pPr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Highlighted top 3 Communities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Giant Component/Degree Range: 24-720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Partition(Maturity)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Red: </a:t>
            </a:r>
            <a:r>
              <a:rPr lang="en-US" sz="2200" dirty="0"/>
              <a:t>Non-Mature Content Streamers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Green: </a:t>
            </a:r>
            <a:r>
              <a:rPr lang="en-US" sz="2200" dirty="0"/>
              <a:t>Mature Content Streamers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8" name="Picture 7" descr="A picture containing green, scene, indoor, light&#10;&#10;Description automatically generated">
            <a:extLst>
              <a:ext uri="{FF2B5EF4-FFF2-40B4-BE49-F238E27FC236}">
                <a16:creationId xmlns:a16="http://schemas.microsoft.com/office/drawing/2014/main" id="{3265C38B-E28F-D794-24D0-8C6B7893D8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0"/>
          <a:stretch/>
        </p:blipFill>
        <p:spPr>
          <a:xfrm>
            <a:off x="6103220" y="2668691"/>
            <a:ext cx="6095992" cy="4189309"/>
          </a:xfrm>
          <a:custGeom>
            <a:avLst/>
            <a:gdLst/>
            <a:ahLst/>
            <a:cxnLst/>
            <a:rect l="l" t="t" r="r" b="b"/>
            <a:pathLst>
              <a:path w="6005375" h="4189309">
                <a:moveTo>
                  <a:pt x="5422311" y="873"/>
                </a:moveTo>
                <a:cubicBezTo>
                  <a:pt x="5467738" y="-1249"/>
                  <a:pt x="5513346" y="499"/>
                  <a:pt x="5558643" y="6137"/>
                </a:cubicBezTo>
                <a:cubicBezTo>
                  <a:pt x="5633356" y="13367"/>
                  <a:pt x="5708323" y="18441"/>
                  <a:pt x="5783036" y="26052"/>
                </a:cubicBezTo>
                <a:cubicBezTo>
                  <a:pt x="5816269" y="29477"/>
                  <a:pt x="5849884" y="16792"/>
                  <a:pt x="5882612" y="28462"/>
                </a:cubicBezTo>
                <a:cubicBezTo>
                  <a:pt x="5909726" y="38166"/>
                  <a:pt x="5937089" y="43856"/>
                  <a:pt x="5964555" y="46416"/>
                </a:cubicBezTo>
                <a:lnTo>
                  <a:pt x="5997178" y="46088"/>
                </a:lnTo>
                <a:lnTo>
                  <a:pt x="5995170" y="275470"/>
                </a:lnTo>
                <a:cubicBezTo>
                  <a:pt x="5993432" y="411056"/>
                  <a:pt x="5993035" y="546624"/>
                  <a:pt x="5999656" y="682159"/>
                </a:cubicBezTo>
                <a:cubicBezTo>
                  <a:pt x="6009854" y="891918"/>
                  <a:pt x="6003364" y="1101545"/>
                  <a:pt x="5999656" y="1311172"/>
                </a:cubicBezTo>
                <a:cubicBezTo>
                  <a:pt x="5992506" y="1713210"/>
                  <a:pt x="6003364" y="2114718"/>
                  <a:pt x="5998730" y="2516227"/>
                </a:cubicBezTo>
                <a:cubicBezTo>
                  <a:pt x="5996744" y="2694204"/>
                  <a:pt x="5998994" y="2871916"/>
                  <a:pt x="6003364" y="3049893"/>
                </a:cubicBezTo>
                <a:cubicBezTo>
                  <a:pt x="6009720" y="3304015"/>
                  <a:pt x="5999922" y="3558268"/>
                  <a:pt x="5989196" y="3812257"/>
                </a:cubicBezTo>
                <a:cubicBezTo>
                  <a:pt x="5985594" y="3882097"/>
                  <a:pt x="5984646" y="3952020"/>
                  <a:pt x="5986348" y="4021878"/>
                </a:cubicBezTo>
                <a:lnTo>
                  <a:pt x="5996786" y="4189309"/>
                </a:lnTo>
                <a:lnTo>
                  <a:pt x="0" y="4189309"/>
                </a:lnTo>
                <a:lnTo>
                  <a:pt x="0" y="27247"/>
                </a:lnTo>
                <a:lnTo>
                  <a:pt x="495" y="27408"/>
                </a:lnTo>
                <a:cubicBezTo>
                  <a:pt x="5176" y="27551"/>
                  <a:pt x="10686" y="26465"/>
                  <a:pt x="17314" y="23896"/>
                </a:cubicBezTo>
                <a:cubicBezTo>
                  <a:pt x="33823" y="19050"/>
                  <a:pt x="50862" y="16234"/>
                  <a:pt x="68053" y="15524"/>
                </a:cubicBezTo>
                <a:cubicBezTo>
                  <a:pt x="200481" y="-1093"/>
                  <a:pt x="333037" y="3346"/>
                  <a:pt x="466100" y="8801"/>
                </a:cubicBezTo>
                <a:cubicBezTo>
                  <a:pt x="697850" y="18187"/>
                  <a:pt x="929854" y="29096"/>
                  <a:pt x="1161985" y="25798"/>
                </a:cubicBezTo>
                <a:cubicBezTo>
                  <a:pt x="1397540" y="22373"/>
                  <a:pt x="1632588" y="29604"/>
                  <a:pt x="1867890" y="39117"/>
                </a:cubicBezTo>
                <a:cubicBezTo>
                  <a:pt x="1971017" y="43050"/>
                  <a:pt x="2074779" y="46982"/>
                  <a:pt x="2176256" y="17680"/>
                </a:cubicBezTo>
                <a:cubicBezTo>
                  <a:pt x="2199190" y="12314"/>
                  <a:pt x="2223101" y="12834"/>
                  <a:pt x="2245769" y="19202"/>
                </a:cubicBezTo>
                <a:cubicBezTo>
                  <a:pt x="2359678" y="45713"/>
                  <a:pt x="2474221" y="53578"/>
                  <a:pt x="2589398" y="27447"/>
                </a:cubicBezTo>
                <a:cubicBezTo>
                  <a:pt x="2721802" y="-1220"/>
                  <a:pt x="2858087" y="-7347"/>
                  <a:pt x="2992519" y="9308"/>
                </a:cubicBezTo>
                <a:cubicBezTo>
                  <a:pt x="3115435" y="23008"/>
                  <a:pt x="3238984" y="37849"/>
                  <a:pt x="3362153" y="26813"/>
                </a:cubicBezTo>
                <a:cubicBezTo>
                  <a:pt x="3556737" y="9308"/>
                  <a:pt x="3751067" y="24530"/>
                  <a:pt x="3945651" y="29223"/>
                </a:cubicBezTo>
                <a:cubicBezTo>
                  <a:pt x="4010343" y="30745"/>
                  <a:pt x="4075416" y="44064"/>
                  <a:pt x="4139727" y="32141"/>
                </a:cubicBezTo>
                <a:cubicBezTo>
                  <a:pt x="4241079" y="13367"/>
                  <a:pt x="4341288" y="20597"/>
                  <a:pt x="4442766" y="31126"/>
                </a:cubicBezTo>
                <a:cubicBezTo>
                  <a:pt x="4637096" y="51422"/>
                  <a:pt x="4831299" y="61189"/>
                  <a:pt x="5024742" y="23134"/>
                </a:cubicBezTo>
                <a:cubicBezTo>
                  <a:pt x="5084742" y="11211"/>
                  <a:pt x="5144359" y="4361"/>
                  <a:pt x="5205373" y="20344"/>
                </a:cubicBezTo>
                <a:cubicBezTo>
                  <a:pt x="5232315" y="26496"/>
                  <a:pt x="5260361" y="25976"/>
                  <a:pt x="5287062" y="18822"/>
                </a:cubicBezTo>
                <a:cubicBezTo>
                  <a:pt x="5331637" y="8985"/>
                  <a:pt x="5376883" y="2995"/>
                  <a:pt x="5422311" y="873"/>
                </a:cubicBezTo>
                <a:close/>
              </a:path>
            </a:pathLst>
          </a:cu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B8D9D1-98A3-B6A7-838E-7CAA5D6C3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8" r="-3" b="-3"/>
          <a:stretch/>
        </p:blipFill>
        <p:spPr>
          <a:xfrm>
            <a:off x="-76193" y="2668691"/>
            <a:ext cx="6172193" cy="4200116"/>
          </a:xfrm>
          <a:custGeom>
            <a:avLst/>
            <a:gdLst/>
            <a:ahLst/>
            <a:cxnLst/>
            <a:rect l="l" t="t" r="r" b="b"/>
            <a:pathLst>
              <a:path w="6006950" h="4200116">
                <a:moveTo>
                  <a:pt x="1035902" y="878"/>
                </a:moveTo>
                <a:cubicBezTo>
                  <a:pt x="1135908" y="5076"/>
                  <a:pt x="1234824" y="23223"/>
                  <a:pt x="1334526" y="31024"/>
                </a:cubicBezTo>
                <a:cubicBezTo>
                  <a:pt x="1429408" y="38508"/>
                  <a:pt x="1524290" y="49417"/>
                  <a:pt x="1619679" y="34449"/>
                </a:cubicBezTo>
                <a:cubicBezTo>
                  <a:pt x="1713242" y="21726"/>
                  <a:pt x="1807870" y="18745"/>
                  <a:pt x="1902041" y="25570"/>
                </a:cubicBezTo>
                <a:cubicBezTo>
                  <a:pt x="2006183" y="30770"/>
                  <a:pt x="2110071" y="48021"/>
                  <a:pt x="2214847" y="33561"/>
                </a:cubicBezTo>
                <a:cubicBezTo>
                  <a:pt x="2228052" y="32216"/>
                  <a:pt x="2241384" y="33954"/>
                  <a:pt x="2253790" y="38635"/>
                </a:cubicBezTo>
                <a:cubicBezTo>
                  <a:pt x="2294520" y="52169"/>
                  <a:pt x="2338397" y="53007"/>
                  <a:pt x="2379622" y="41045"/>
                </a:cubicBezTo>
                <a:cubicBezTo>
                  <a:pt x="2431756" y="27168"/>
                  <a:pt x="2486503" y="26254"/>
                  <a:pt x="2539069" y="38381"/>
                </a:cubicBezTo>
                <a:cubicBezTo>
                  <a:pt x="2617207" y="55379"/>
                  <a:pt x="2695598" y="72123"/>
                  <a:pt x="2776908" y="58169"/>
                </a:cubicBezTo>
                <a:cubicBezTo>
                  <a:pt x="2824222" y="50178"/>
                  <a:pt x="2868111" y="30770"/>
                  <a:pt x="2914791" y="21637"/>
                </a:cubicBezTo>
                <a:cubicBezTo>
                  <a:pt x="3049249" y="-4620"/>
                  <a:pt x="3184976" y="3244"/>
                  <a:pt x="3320703" y="12124"/>
                </a:cubicBezTo>
                <a:cubicBezTo>
                  <a:pt x="3453259" y="20876"/>
                  <a:pt x="3585179" y="38888"/>
                  <a:pt x="3718496" y="36225"/>
                </a:cubicBezTo>
                <a:cubicBezTo>
                  <a:pt x="3746884" y="36440"/>
                  <a:pt x="3775210" y="38812"/>
                  <a:pt x="3803230" y="43328"/>
                </a:cubicBezTo>
                <a:cubicBezTo>
                  <a:pt x="3907245" y="57028"/>
                  <a:pt x="4011767" y="69966"/>
                  <a:pt x="4114640" y="42313"/>
                </a:cubicBezTo>
                <a:cubicBezTo>
                  <a:pt x="4206871" y="17312"/>
                  <a:pt x="4303111" y="10677"/>
                  <a:pt x="4397891" y="22779"/>
                </a:cubicBezTo>
                <a:cubicBezTo>
                  <a:pt x="4522696" y="39130"/>
                  <a:pt x="4648846" y="42707"/>
                  <a:pt x="4774374" y="33434"/>
                </a:cubicBezTo>
                <a:cubicBezTo>
                  <a:pt x="4813773" y="29515"/>
                  <a:pt x="4853387" y="28107"/>
                  <a:pt x="4892977" y="29248"/>
                </a:cubicBezTo>
                <a:cubicBezTo>
                  <a:pt x="5181681" y="42440"/>
                  <a:pt x="5471273" y="25062"/>
                  <a:pt x="5759471" y="55759"/>
                </a:cubicBezTo>
                <a:cubicBezTo>
                  <a:pt x="5805028" y="61131"/>
                  <a:pt x="5850896" y="61524"/>
                  <a:pt x="5896277" y="57017"/>
                </a:cubicBezTo>
                <a:lnTo>
                  <a:pt x="6006950" y="33749"/>
                </a:lnTo>
                <a:lnTo>
                  <a:pt x="6006950" y="4200116"/>
                </a:lnTo>
                <a:lnTo>
                  <a:pt x="13501" y="4200116"/>
                </a:lnTo>
                <a:lnTo>
                  <a:pt x="28554" y="3862213"/>
                </a:lnTo>
                <a:cubicBezTo>
                  <a:pt x="30457" y="3736758"/>
                  <a:pt x="27411" y="3611386"/>
                  <a:pt x="15626" y="3486312"/>
                </a:cubicBezTo>
                <a:cubicBezTo>
                  <a:pt x="-847" y="3333707"/>
                  <a:pt x="-4304" y="3179990"/>
                  <a:pt x="5296" y="3026802"/>
                </a:cubicBezTo>
                <a:cubicBezTo>
                  <a:pt x="11786" y="2939137"/>
                  <a:pt x="18539" y="2851472"/>
                  <a:pt x="22776" y="2763676"/>
                </a:cubicBezTo>
                <a:cubicBezTo>
                  <a:pt x="28180" y="2638786"/>
                  <a:pt x="25173" y="2513673"/>
                  <a:pt x="13771" y="2389181"/>
                </a:cubicBezTo>
                <a:cubicBezTo>
                  <a:pt x="4237" y="2294247"/>
                  <a:pt x="3177" y="2198663"/>
                  <a:pt x="10593" y="2103543"/>
                </a:cubicBezTo>
                <a:cubicBezTo>
                  <a:pt x="25690" y="1941590"/>
                  <a:pt x="9931" y="1779636"/>
                  <a:pt x="5032" y="1617814"/>
                </a:cubicBezTo>
                <a:cubicBezTo>
                  <a:pt x="-3577" y="1320125"/>
                  <a:pt x="20393" y="1022570"/>
                  <a:pt x="9666" y="724882"/>
                </a:cubicBezTo>
                <a:cubicBezTo>
                  <a:pt x="3841" y="577627"/>
                  <a:pt x="16420" y="430504"/>
                  <a:pt x="9666" y="283249"/>
                </a:cubicBezTo>
                <a:cubicBezTo>
                  <a:pt x="6885" y="230875"/>
                  <a:pt x="4568" y="178502"/>
                  <a:pt x="3409" y="126111"/>
                </a:cubicBezTo>
                <a:lnTo>
                  <a:pt x="3819" y="33427"/>
                </a:lnTo>
                <a:lnTo>
                  <a:pt x="31797" y="28723"/>
                </a:lnTo>
                <a:cubicBezTo>
                  <a:pt x="147177" y="14068"/>
                  <a:pt x="264046" y="13354"/>
                  <a:pt x="379873" y="26711"/>
                </a:cubicBezTo>
                <a:cubicBezTo>
                  <a:pt x="443931" y="35083"/>
                  <a:pt x="508243" y="47768"/>
                  <a:pt x="573442" y="35083"/>
                </a:cubicBezTo>
                <a:cubicBezTo>
                  <a:pt x="579581" y="33992"/>
                  <a:pt x="585759" y="36757"/>
                  <a:pt x="589044" y="42060"/>
                </a:cubicBezTo>
                <a:cubicBezTo>
                  <a:pt x="621264" y="81382"/>
                  <a:pt x="663123" y="80114"/>
                  <a:pt x="705871" y="67429"/>
                </a:cubicBezTo>
                <a:cubicBezTo>
                  <a:pt x="733929" y="58740"/>
                  <a:pt x="761430" y="48326"/>
                  <a:pt x="788194" y="36225"/>
                </a:cubicBezTo>
                <a:cubicBezTo>
                  <a:pt x="835052" y="16792"/>
                  <a:pt x="884827" y="5299"/>
                  <a:pt x="935464" y="2230"/>
                </a:cubicBezTo>
                <a:cubicBezTo>
                  <a:pt x="969111" y="-370"/>
                  <a:pt x="1002567" y="-521"/>
                  <a:pt x="1035902" y="878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00244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A picture containing icon&#10;&#10;Description automatically generated">
            <a:extLst>
              <a:ext uri="{FF2B5EF4-FFF2-40B4-BE49-F238E27FC236}">
                <a16:creationId xmlns:a16="http://schemas.microsoft.com/office/drawing/2014/main" id="{A6E0EADB-5039-A420-B381-61825BACC3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" r="-3" b="-3"/>
          <a:stretch/>
        </p:blipFill>
        <p:spPr>
          <a:xfrm>
            <a:off x="554415" y="366065"/>
            <a:ext cx="3475466" cy="3639325"/>
          </a:xfrm>
          <a:prstGeom prst="rect">
            <a:avLst/>
          </a:prstGeom>
        </p:spPr>
      </p:pic>
      <p:pic>
        <p:nvPicPr>
          <p:cNvPr id="9" name="Picture 8" descr="A picture containing dark, light, night&#10;&#10;Description automatically generated">
            <a:extLst>
              <a:ext uri="{FF2B5EF4-FFF2-40B4-BE49-F238E27FC236}">
                <a16:creationId xmlns:a16="http://schemas.microsoft.com/office/drawing/2014/main" id="{3182DF46-7AA2-2CF1-EF6F-C4CBEB7F9E0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30"/>
          <a:stretch/>
        </p:blipFill>
        <p:spPr>
          <a:xfrm>
            <a:off x="4352762" y="168965"/>
            <a:ext cx="3996108" cy="3958497"/>
          </a:xfrm>
          <a:prstGeom prst="rect">
            <a:avLst/>
          </a:prstGeom>
        </p:spPr>
      </p:pic>
      <p:pic>
        <p:nvPicPr>
          <p:cNvPr id="5" name="Content Placeholder 4" descr="A picture containing indoor, green&#10;&#10;Description automatically generated">
            <a:extLst>
              <a:ext uri="{FF2B5EF4-FFF2-40B4-BE49-F238E27FC236}">
                <a16:creationId xmlns:a16="http://schemas.microsoft.com/office/drawing/2014/main" id="{B82DBD8F-AF17-A292-79E9-0FFDB055210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30"/>
          <a:stretch/>
        </p:blipFill>
        <p:spPr>
          <a:xfrm>
            <a:off x="8348870" y="168965"/>
            <a:ext cx="3586890" cy="395849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31D45564-A2BB-EB8D-7942-8DE453680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8824" y="4440602"/>
            <a:ext cx="6860184" cy="164592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800" dirty="0"/>
              <a:t>Individually Highlighting Mature Content creator(Green) and Non-Mature content creators (Red)</a:t>
            </a:r>
          </a:p>
          <a:p>
            <a:r>
              <a:rPr lang="en-US" sz="1800" dirty="0"/>
              <a:t>This will help identify streamers based on the type of content they stream</a:t>
            </a:r>
          </a:p>
          <a:p>
            <a:r>
              <a:rPr lang="en-US" sz="1800" dirty="0"/>
              <a:t>Example: Will help identify if a liquor-based company can collaborate with that streamer based on their content maturity.</a:t>
            </a:r>
          </a:p>
        </p:txBody>
      </p:sp>
    </p:spTree>
    <p:extLst>
      <p:ext uri="{BB962C8B-B14F-4D97-AF65-F5344CB8AC3E}">
        <p14:creationId xmlns:p14="http://schemas.microsoft.com/office/powerpoint/2010/main" val="349033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DE6CCD2-EDE5-7EA5-370B-9F6A0763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411DD0-7876-A4DD-E377-627105A9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0" y="0"/>
            <a:ext cx="1224500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96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C0B10B-D2C4-4A54-AFAD-3D27DF88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6BADB90-C74B-40D6-86DC-503F65FCE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13" name="Freeform 44">
              <a:extLst>
                <a:ext uri="{FF2B5EF4-FFF2-40B4-BE49-F238E27FC236}">
                  <a16:creationId xmlns:a16="http://schemas.microsoft.com/office/drawing/2014/main" id="{6559431D-1886-4AE0-9B87-9AD2ECAB84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5">
              <a:extLst>
                <a:ext uri="{FF2B5EF4-FFF2-40B4-BE49-F238E27FC236}">
                  <a16:creationId xmlns:a16="http://schemas.microsoft.com/office/drawing/2014/main" id="{373850A5-B04A-4FCD-9E73-EE322167F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">
              <a:extLst>
                <a:ext uri="{FF2B5EF4-FFF2-40B4-BE49-F238E27FC236}">
                  <a16:creationId xmlns:a16="http://schemas.microsoft.com/office/drawing/2014/main" id="{82C18C67-80FA-4738-AA53-0AF2419F9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7">
              <a:extLst>
                <a:ext uri="{FF2B5EF4-FFF2-40B4-BE49-F238E27FC236}">
                  <a16:creationId xmlns:a16="http://schemas.microsoft.com/office/drawing/2014/main" id="{48543B1A-8BF5-4C63-8404-41B2EA70B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DF5096-E051-498C-A3ED-CBA77A813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736B6-1DCD-5D0F-4340-3BA171B1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Pareto’s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A7419-03E7-AA5C-06E2-5BA7F1717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645" y="2465019"/>
            <a:ext cx="5254192" cy="4105133"/>
          </a:xfrm>
        </p:spPr>
        <p:txBody>
          <a:bodyPr>
            <a:normAutofit/>
          </a:bodyPr>
          <a:lstStyle/>
          <a:p>
            <a:r>
              <a:rPr lang="en-US" sz="2400" dirty="0"/>
              <a:t>80% of Consequences come from 20% of causes</a:t>
            </a:r>
          </a:p>
          <a:p>
            <a:r>
              <a:rPr lang="en-US" sz="2400" dirty="0"/>
              <a:t>We will apply the same principle to this data set</a:t>
            </a:r>
          </a:p>
          <a:p>
            <a:r>
              <a:rPr lang="en-US" sz="2400" dirty="0"/>
              <a:t>20% of </a:t>
            </a:r>
            <a:r>
              <a:rPr lang="en-US" sz="2400" b="1" dirty="0"/>
              <a:t>7126(1426)</a:t>
            </a:r>
            <a:r>
              <a:rPr lang="en-US" sz="2400" dirty="0"/>
              <a:t> Streamers attracted of </a:t>
            </a:r>
            <a:r>
              <a:rPr lang="en-US" sz="2400" b="1" dirty="0"/>
              <a:t>1348852(1378668964) </a:t>
            </a:r>
            <a:r>
              <a:rPr lang="en-US" sz="2400" dirty="0"/>
              <a:t>Viewers which was 97% of all viewership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5753749-A62E-A2C3-3C68-8373AC9072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2" b="6399"/>
          <a:stretch/>
        </p:blipFill>
        <p:spPr>
          <a:xfrm>
            <a:off x="6098892" y="2492376"/>
            <a:ext cx="4802404" cy="35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919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458115-D3E6-043C-F0A0-6C64F01E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Streamers by Views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C05E2-B095-3332-A165-FD06C7888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Streamers with highest views will provide more audience exposure for anyone planning to collaborate with the </a:t>
            </a:r>
          </a:p>
          <a:p>
            <a:r>
              <a:rPr lang="en-US" sz="2200" dirty="0"/>
              <a:t>Top Streamer based on mature content can be identified from this graph</a:t>
            </a:r>
          </a:p>
          <a:p>
            <a:r>
              <a:rPr lang="en-US" sz="2200" dirty="0"/>
              <a:t>Top 20 Streamers cover the majority of vies as stated earlier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00D16-80F1-4B66-8C61-9800E836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651" y="639520"/>
            <a:ext cx="7492244" cy="615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217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6D82C4-F17E-49B4-C6A1-22FC9AF22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Top 20 Games by Streamers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C28425-6FF6-A0EF-71B7-9EC0C6946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This Graph also states maturity content of games played by these streamers</a:t>
            </a:r>
          </a:p>
          <a:p>
            <a:r>
              <a:rPr lang="en-US" sz="2200" dirty="0"/>
              <a:t>Games like Dota2, Twitch Plays can be enjoyed by non mature viewers </a:t>
            </a:r>
          </a:p>
          <a:p>
            <a:r>
              <a:rPr lang="en-US" sz="2200" dirty="0"/>
              <a:t>Whereas games like Minecraft, Need for speed unbound, Just Chatting are meant for mature audience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64C2C0-4548-7CA5-5CBE-FEA7BAF63E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505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63180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3F0CD-9602-FB39-7A18-411B2236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AB3321-BFE6-354E-1C19-D0CA445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829098" cy="3454378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1800" dirty="0"/>
              <a:t>Gephi can be used for Community Detection for social network of Twitch Users</a:t>
            </a:r>
          </a:p>
          <a:p>
            <a:r>
              <a:rPr lang="en-US" sz="1800" dirty="0"/>
              <a:t>Nodes have higher likelihood of forming new connections with node that has higher degree of centrality</a:t>
            </a:r>
          </a:p>
          <a:p>
            <a:r>
              <a:rPr lang="en-US" sz="1800" dirty="0"/>
              <a:t>Communities can be based on Modularity Class, Degree/ Closeness/ Betweenness centrality etc.</a:t>
            </a:r>
          </a:p>
          <a:p>
            <a:r>
              <a:rPr lang="en-US" sz="1800" dirty="0"/>
              <a:t>Nodes Attributes can be combined with network properties to determine clusters </a:t>
            </a:r>
          </a:p>
          <a:p>
            <a:r>
              <a:rPr lang="en-US" sz="1800" dirty="0"/>
              <a:t>This includes mature Audience, Partnered Status, Age of Channel etc.</a:t>
            </a:r>
          </a:p>
        </p:txBody>
      </p:sp>
      <p:pic>
        <p:nvPicPr>
          <p:cNvPr id="5" name="Content Placeholder 4" descr="A picture containing icon&#10;&#10;Description automatically generated">
            <a:extLst>
              <a:ext uri="{FF2B5EF4-FFF2-40B4-BE49-F238E27FC236}">
                <a16:creationId xmlns:a16="http://schemas.microsoft.com/office/drawing/2014/main" id="{54AAAC8A-50F2-81B8-135B-8587E9AA6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6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3F0CD-9602-FB39-7A18-411B2236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AB3321-BFE6-354E-1C19-D0CA445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ENGB(England Great Britain) has more mature streamers</a:t>
            </a:r>
          </a:p>
          <a:p>
            <a:r>
              <a:rPr lang="en-US" sz="2200" dirty="0"/>
              <a:t>Collective viewership of mature streamers accounts only half of non-mature Streamers</a:t>
            </a:r>
          </a:p>
          <a:p>
            <a:r>
              <a:rPr lang="en-US" sz="2200" dirty="0"/>
              <a:t>Non-Mature streamers have more chance of receiving views on their channels</a:t>
            </a:r>
          </a:p>
        </p:txBody>
      </p:sp>
      <p:pic>
        <p:nvPicPr>
          <p:cNvPr id="5" name="Content Placeholder 4" descr="A picture containing icon&#10;&#10;Description automatically generated">
            <a:extLst>
              <a:ext uri="{FF2B5EF4-FFF2-40B4-BE49-F238E27FC236}">
                <a16:creationId xmlns:a16="http://schemas.microsoft.com/office/drawing/2014/main" id="{54AAAC8A-50F2-81B8-135B-8587E9AA6C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77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6D736-79B3-A279-19EC-233327690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References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3A4E2CB-FEE7-5AE9-0D4E-FA57BC42F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>
                <a:hlinkClick r:id="rId2"/>
              </a:rPr>
              <a:t>https://snap.stanford.edu/data/twitch-social-networks.html</a:t>
            </a:r>
            <a:endParaRPr lang="en-US" sz="2200" dirty="0"/>
          </a:p>
          <a:p>
            <a:r>
              <a:rPr lang="en-US" sz="2200" dirty="0">
                <a:hlinkClick r:id="rId3"/>
              </a:rPr>
              <a:t>https://github.com/benedekrozemberczki/MUSAE</a:t>
            </a:r>
            <a:endParaRPr lang="en-US" sz="2200" dirty="0"/>
          </a:p>
          <a:p>
            <a:r>
              <a:rPr lang="en-US" sz="2200" dirty="0">
                <a:hlinkClick r:id="rId4"/>
              </a:rPr>
              <a:t>https://arxiv.org/abs/1909.13021</a:t>
            </a:r>
            <a:endParaRPr lang="en-US" sz="2200" dirty="0"/>
          </a:p>
          <a:p>
            <a:endParaRPr lang="en-US" sz="2200" dirty="0"/>
          </a:p>
        </p:txBody>
      </p:sp>
      <p:pic>
        <p:nvPicPr>
          <p:cNvPr id="5" name="Content Placeholder 4" descr="A picture containing icon&#10;&#10;Description automatically generated">
            <a:extLst>
              <a:ext uri="{FF2B5EF4-FFF2-40B4-BE49-F238E27FC236}">
                <a16:creationId xmlns:a16="http://schemas.microsoft.com/office/drawing/2014/main" id="{8543DD26-8AF8-BBE7-7E11-989C36BD36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236" y="640080"/>
            <a:ext cx="557784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31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7F2EBC4D0BA0429E1BF847B6C35C5D" ma:contentTypeVersion="5" ma:contentTypeDescription="Create a new document." ma:contentTypeScope="" ma:versionID="8bb8c2644e507d73ec0f5041f66df688">
  <xsd:schema xmlns:xsd="http://www.w3.org/2001/XMLSchema" xmlns:xs="http://www.w3.org/2001/XMLSchema" xmlns:p="http://schemas.microsoft.com/office/2006/metadata/properties" xmlns:ns3="f9041c1f-58a8-4447-9141-5f883d4bb521" targetNamespace="http://schemas.microsoft.com/office/2006/metadata/properties" ma:root="true" ma:fieldsID="4b2da7fb922d8a8fb15c4bdf4b6e39a9" ns3:_="">
    <xsd:import namespace="f9041c1f-58a8-4447-9141-5f883d4bb5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041c1f-58a8-4447-9141-5f883d4bb5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591955-8601-4E10-B51D-9A90B8C461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041c1f-58a8-4447-9141-5f883d4bb5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49B257-7EBE-4E72-95C2-E53F127AD3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1F64C7-D018-4940-B5E5-CA0226B793F5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f9041c1f-58a8-4447-9141-5f883d4bb521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1561</Words>
  <Application>Microsoft Office PowerPoint</Application>
  <PresentationFormat>Widescreen</PresentationFormat>
  <Paragraphs>289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</vt:lpstr>
      <vt:lpstr>Calibri</vt:lpstr>
      <vt:lpstr>Calibri Light</vt:lpstr>
      <vt:lpstr>JetBrains Mono</vt:lpstr>
      <vt:lpstr>Wingdings</vt:lpstr>
      <vt:lpstr>Office Theme</vt:lpstr>
      <vt:lpstr>Twitch User Social Network Analysis</vt:lpstr>
      <vt:lpstr>Background Twitch.TV</vt:lpstr>
      <vt:lpstr>Project Overview </vt:lpstr>
      <vt:lpstr>Initial Data Set</vt:lpstr>
      <vt:lpstr>Limitations in the Dataset</vt:lpstr>
      <vt:lpstr>Data Collection us API</vt:lpstr>
      <vt:lpstr>Getting user properties with Twitch API</vt:lpstr>
      <vt:lpstr>Modularity Report</vt:lpstr>
      <vt:lpstr>Graph Visualization</vt:lpstr>
      <vt:lpstr>Graph Visualization</vt:lpstr>
      <vt:lpstr>PowerPoint Presentation</vt:lpstr>
      <vt:lpstr>Community Detection</vt:lpstr>
      <vt:lpstr>PowerPoint Presentation</vt:lpstr>
      <vt:lpstr>PowerPoint Presentation</vt:lpstr>
      <vt:lpstr>Identifying Mature Streamer within the community(18+)</vt:lpstr>
      <vt:lpstr>PowerPoint Presentation</vt:lpstr>
      <vt:lpstr>PowerPoint Presentation</vt:lpstr>
      <vt:lpstr>Pareto’s Principle</vt:lpstr>
      <vt:lpstr>Streamers by Views</vt:lpstr>
      <vt:lpstr>Top 20 Games by Streamers</vt:lpstr>
      <vt:lpstr>Conclusion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Twitch User Social Network Analysis</dc:title>
  <dc:creator>Rahul Singh</dc:creator>
  <cp:lastModifiedBy>Rahul Singh</cp:lastModifiedBy>
  <cp:revision>4</cp:revision>
  <dcterms:created xsi:type="dcterms:W3CDTF">2022-12-15T20:02:36Z</dcterms:created>
  <dcterms:modified xsi:type="dcterms:W3CDTF">2022-12-16T22:18:57Z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0x010100047F2EBC4D0BA0429E1BF847B6C35C5D</vt:lpwstr>
  </property>
</Properties>
</file>